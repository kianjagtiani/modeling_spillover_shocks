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all data is free and publicly available. No proprietary data vendors.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point: the walk-forward setup is what makes results trustworthy and comparable to real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overfitting warning is an honest result. The IS→OOS gap tells you the strategy is tuned to 2022 market 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strategy is a risk management tool first. The return enhancement depends on whether vol forecasts are accurate enough to time regimes.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with: 'The model is good at forecasting normal volatility dynamics. No model is good at black swans — and any researcher who claims otherwise is overfitting.'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1A2D42"/>
                </a:solidFill>
              </a:rPr>
              <a:t>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Predicting Bitcoin Volatility
Using Cross-Asset Spillovers,
Seasonality &amp; Hybrid ML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6E0"/>
                </a:solidFill>
              </a:rPr>
              <a:t>A Walk-Forward Evaluation Across 1,530 Days  |  2022 –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Can we predict how wild Bitcoin will be tomorrow — and trade on it?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Data &amp;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424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Data Sources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Binance.US public API — BTC, ETH, SOL, BNB  |  5-min + daily  |  Jan 2021 → Apr 2026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~553,000 five-minute bars per symbol; 1,901 daily feature rows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yfinance — VIX, S&amp;P 500, Gold, DXY, 10-Year Treasury yield (daily)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alternative.me — Crypto Fear &amp; Greed Index (daily)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Target Variable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Realized Volatility (RV) from 5-min returns: √Σr²  ×  √365  (annualized)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Model-free, observable measure — no GARCH assumptions needed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54 Features Across 5 Categories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1. Own-history lags (HAR: daily/weekly/monthly RV, vol-of-vol, jumps)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2. Crypto cross-asset (ETH, SOL, BNB vol; BTC-ETH rolling correlation)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3. Traditional market spillovers (VIX, S&amp;P 500, Gold, DXY, 10Y yield)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4. Seasonality (day-of-week/month sin-cos, halving cycle phase, US holidays)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5. Sentiment (Fear &amp; Greed Index extreme readings)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424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HAR Model  —  Corsi (2009)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Long-memory in volatility captured with daily/weekly/monthly lags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Consistently outperforms GARCH in out-of-sample crypto forecasts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VIX → BTC Volatility  —  Bouri et al. (2021), Fang et al. (2022)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VIX Granger-causes BTC volatility, especially during equity stress regimes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Lead time: 1–3 trading days; effect intensified post-institutional adoption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Signed Jumps  —  Patton &amp; Sheppard (2015)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Negative jumps (crashes) predict higher future vol than positive jumps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Asymmetric fear &gt; greed effect in volatility persistence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Seasonality in Crypto  —  Baur &amp; Dimpfl (2018), Catania &amp; Grassi (2022)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Intraday patterns tied to NYSE open and CME futures settlement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Bitcoin's 4-year halving cycle creates measurable regime shifts in RV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Hybrid Superiority  —  Catania &amp; Sandholdt (2019), Akyildirim et al. (2021)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Econometric backbone prevents ML from overfitting on linear long-memory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Residual learning with GBDT outperforms both pure ML and pure HAR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Exploratory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BTC realized volatility is persistent, seasonal, and increasingly correlated with equity fear indices post-2021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17320"/>
          <a:ext cx="10515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Avg Annualized Vol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VIX Correlation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Key Event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365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78.3%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0.41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Bull run, BTC ATH $69k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365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58.5%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0.55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FTX collapse, LUNA crash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365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37.8%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0.47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Recovery, range-bound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366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49.0%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0.61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ETF approval, halving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365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52.0%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0.63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Institutional flows grow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2026 YTD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55.7%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0.65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Ongoing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424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Walk-Forward Validation — Zero Lookahead Bias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365-day rolling training window  →  5-day embargo (purging)  →  predict day t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1,530 out-of-sample test days; model refit every 20 days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Mirrors exactly how the model would work in live deployment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8 Models Tested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HAR-RV-SJ (baseline) · HAR-Lasso · XGBoost · LightGBM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HAR-LGBM Hybrid ★ · HAR-LGBM Tuned · HAR-LSTM Hybrid · Stacking Ensemble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Primary Metric: QLIKE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Proper scoring rule for variance — penalizes underestimating vol more than overestimating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Standard in academic volatility literature; robust to extreme spikes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Statistical Tests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Diebold-Mariano test — pairwise significance of improvements (p &lt; 0.05 threshold)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Mincer-Zarnowitz R² — forecast efficiency; confirms forecasts are unbiased (α ≈ 0, p = 0.96)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Why Hybrid Beats Pure ML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Volatility has strong linear long-memory — HAR captures it with just 3 coefficients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Pure XGBoost/LGBM wastes capacity re-learning the linear signal, then overfits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Hybrid: HAR handles linear structure → LGBM learns what's left (cross-asset, seasonality)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Results — All Models Ranked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(*) = statistically significant improvement  |  Hybrid explains 59% of day-to-day BTC vol variation  (R² = 0.594)  |  1,530 OOS test days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17320"/>
          <a:ext cx="105156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QLIKE ↓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MSE (log) ↓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Correlation ↑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Beats Baseline?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ECC71"/>
                          </a:solidFill>
                        </a:rPr>
                        <a:t>HAR-LGBM Hybrid ★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0.0444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0.0855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0.770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CC71"/>
                          </a:solidFill>
                        </a:rPr>
                        <a:t>— (BEST)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HAR-LGBM Tuned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0.0456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0.0880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0.762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Yes *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HAR-Lasso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0.0479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0.0898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0.755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Yes *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Stacking Ensemble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0.0559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0.1036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0.710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Yes *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HAR-RV-SJ (baseline)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0.0575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0.1116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0.681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HAR-LSTM Hybrid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0.0584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0.1157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0.668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0.0610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0.1236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0.644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0.0698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0.1494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0.585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Results — Backtest: Turning Forecasts Into Returns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Vol forecasts used to size BTC position: high vol → reduce exposure, low vol → increase.  0.1% transaction costs.  No lookahead.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173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Total Return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Ann. Return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Sharpe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Max Drawdown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Buy &amp; Hold BTC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-71.5%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Inverse-Vol Sizing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57.2%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11.4%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0.27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-56.3%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Vol Regime Filter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65.4%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0.28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-57.0%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ECC71"/>
                          </a:solidFill>
                        </a:rPr>
                        <a:t>Combined Strategy ★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148.0%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24.2%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0.56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-41.7%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Monte Carlo: Strategy Parameter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424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Setup: 200 random trials, 60/40 train/test split (no snooping)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Training period: Jan 2022 – Aug 2024  |  Test period: Aug 2024 – Apr 2026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Randomly sample all parameters (vol target, position limits, regime thresholds, lookbacks)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Pick best by OOS Sharpe — never by in-sample performance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Key Finding: Large IS → OOS Sharpe gap (0.71 ⚠)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Best in-sample Sharpe: 0.75  →  Out-of-sample Sharpe: 0.03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This is classic overfitting — strategy parameters don't generalize from 2022 to 2025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Default combined strategy OOS Sharpe: -0.25 (2024-26 was hard for vol strategies)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Most Important Parameters (Pearson correlation with IS Sharpe):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target_vol  r = -0.58 *** (lower vol target = safer sizing = better IS stability)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tx_cost     r = -0.31 **  (transaction costs materially erode returns)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vol_lookback r = -0.16 *  (longer lookback = smoother, less reactive)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Implication: Do not over-engineer the parameter space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Vol sizing works when kept simple — inverse-vol with target ~1.1% daily vol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Complex regime switching adds IS fit but not OOS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Monte Carlo: Bootstrap Confidence Intervals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Block bootstrap (21-day blocks, 500 samples) — preserves autocorrelation structure of returns. Regime-only strategy has no edge.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17320"/>
          <a:ext cx="10515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Sharpe (median)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P(Sharpe &gt; 0)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B2A"/>
                          </a:solidFill>
                        </a:rPr>
                        <a:t>Max DD (median)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Default (combined)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0.174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[-0.82, 1.93]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65%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-38%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Optimized (iv)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0.400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[-0.60, 1.67]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75%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-37%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Inverse-Vol only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0.196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[-0.64, 1.64]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-38%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Regime only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-0.003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[-0.77, 1.47]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-39%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Multi-Level Vol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0.230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[-0.62, 1.56]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68%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-38%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</a:rPr>
                        <a:t>Buy &amp; Hold BTC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[−∞, +∞]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52%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-72%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Monte Carlo: Forward Path Simulation (252-day horizon)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424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Setup: 300 GBM paths bootstrapped from model vol forecasts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Vol drawn by resampling 21-day blocks of HAR-LGBM Hybrid forecasts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Returns simulated: r_t ~ N(μ_daily, σ²_t) where σ_t = model forecast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Strategy applied identically on each path — full position logic, 0.1% tx cost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Results: Strategy vs Buy &amp; Hold across 300 simulated futures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P(strategy beats B&amp;H on total return):  62%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P(total return &gt; 0):                   43%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P(strategy beats B&amp;H on Sharpe):       46%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Risk Reduction is the Consistent Edge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Strategy median max drawdown: -19.8%  vs  Buy &amp; Hold median: -38.2%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P(strategy has smaller drawdown than B&amp;H): 100% of paths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The vol sizing reliably cuts tail losses — that's the durable signal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Honest Assessment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Alpha is not consistent across environments (46% chance to beat B&amp;H on Sharpe)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Risk management alpha IS consistent — drawdown reduction holds in every path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Strategy adds value primarily as a risk overlay, not a return enhancer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424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Additional Data Sources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Deribit DVOL — implied volatility from BTC options market (forward-looking signal)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On-chain data — active addresses, exchange inflows, miner capitulation (Glassnode)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Derivatives — funding rates and open interest from perpetual swap markets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NLP sentiment — news and Twitter scores around major macro announcements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Methodological Improvements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Regime-switching HAR (MS-HAR) — explicitly model bull/bear/halving regimes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Temporal Fusion Transformer — attention-based model trained on full 5-year history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Multi-horizon forecasting — extend to h=5 (weekly) and h=22 (monthly)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Probabilistic forecasts — predict a full distribution, not just a point estimate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Application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Live paper trading — deploy the daily forecast in a simulated portfolio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Options strategy — identify mispriced BTC options on Deribit using vol forecasts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931A"/>
                </a:solidFill>
              </a:rPr>
              <a:t>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424160" cy="27432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424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The Model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HAR-LGBM Hybrid is the best architecture — econometric backbone + ML on residuals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24% QLIKE improvement over the academic benchmark, statistically significant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Explains 59% of day-to-day variation in Bitcoin realized volatility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What Works — and What Doesn't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Hybrid &gt; pure ML: linear long-memory must be captured before learning nonlinearities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VIX is the single strongest cross-asset predictor — equity fear leads BTC vol by 1-3 days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LSTM underperformed due to limited sequences per fold (~340), not architecture quality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The Bottom Line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A reliable vol forecast turns a near-flat BTC buy-and-hold (+5.5% over 4 years)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into a structured risk-managed strategy returning 148% with Sharpe 0.56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and cutting the worst drawdown from -71.5% to -41.7%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Monte Carlo Stress Test Findings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Bootstrap CIs are wide — Sharpe point estimates are not reliable with 1,500 obs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The one thing that IS robust: vol sizing cuts max drawdown in 100% of simulated paths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Parameter optimization shows strong IS→OOS gap — keep the strategy simple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7931A"/>
                </a:solidFill>
              </a:rPr>
              <a:t>Honest Caveats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</a:rPr>
              <a:t>Model fails on black-swan events (FTX, geopolitical shocks) — no historical data helps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Traditional market features help most in high-vol regimes; weekend data is forward-filled</a:t>
            </a:r>
          </a:p>
          <a:p>
            <a:pPr lvl="1">
              <a:spcBef>
                <a:spcPts val="400"/>
              </a:spcBef>
            </a:pPr>
            <a:r>
              <a:rPr sz="1600">
                <a:solidFill>
                  <a:srgbClr val="CCD6E0"/>
                </a:solidFill>
              </a:rPr>
              <a:t>Strategy is a risk overlay first, return enhancer second — set expectations accordingly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